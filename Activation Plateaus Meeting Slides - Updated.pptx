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91bc5312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91bc5312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91bc5312a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c91bc5312a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c91bc5312a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c91bc5312a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c91bc5312a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c91bc5312a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c91bc5312a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c91bc5312a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c91bc5312a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c91bc5312a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c91bc5312a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c91bc5312a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c9700c8b3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c9700c8b3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c91bc5312a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c91bc5312a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c7978828b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c7978828b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c7978828b4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c7978828b4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c7978828b4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c7978828b4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c7978828b4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c7978828b4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7978828b4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c7978828b4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c7978828b4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c7978828b4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c7978828b4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c7978828b4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c7978828b4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c7978828b4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c7978828b4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c7978828b4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7978828b4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c7978828b4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c7978828b4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c7978828b4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c7978828b4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c7978828b4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c6e3e16fe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c6e3e16fe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c6e3e16fec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c6e3e16fe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c6e3e16fe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c6e3e16fe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c6e3e16fec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c6e3e16fec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c6e3e16fec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c6e3e16fec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5.png"/><Relationship Id="rId4" Type="http://schemas.openxmlformats.org/officeDocument/2006/relationships/image" Target="../media/image2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6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5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6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Activation Plateaus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Meeting Slides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Francisco Ferreira da Silva, Arnau Marin-Llobet and Stefan Heimersheim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Meeting 19/02/2026 - Contents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62500" y="1049700"/>
            <a:ext cx="7943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/>
              <a:t>Last time:</a:t>
            </a:r>
            <a:r>
              <a:rPr lang="en-GB" sz="1500"/>
              <a:t> Feature directions (PC1/MELBO₁) break plateaus while the nearly-identical mean direction does not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500"/>
              <a:t>Today</a:t>
            </a:r>
            <a:r>
              <a:rPr b="1" lang="en-GB" sz="1500"/>
              <a:t>:</a:t>
            </a:r>
            <a:r>
              <a:rPr lang="en-GB" sz="1500"/>
              <a:t> Things I've done that I'd like to cover:</a:t>
            </a:r>
            <a:endParaRPr sz="1500"/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AutoNum type="arabicPeriod"/>
            </a:pPr>
            <a:r>
              <a:rPr lang="en-GB" sz="1500"/>
              <a:t>Solution to the above puzzle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rPr lang="en-GB" sz="1500"/>
              <a:t>Not so exciting; I was steering the mean in the wrong direction lol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-GB" sz="1500"/>
              <a:t>Steering lines up nicely with perturbation sweep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-GB" sz="1500"/>
              <a:t>Multi-contrastive steering: can we estimate feature vector rather than difference-of-means?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-GB" sz="1500"/>
              <a:t>Adapted MELBO: selecting for feature-like response profiles</a:t>
            </a:r>
            <a:endParaRPr sz="1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Steering and Perturbation Line Up</a:t>
            </a:r>
            <a:endParaRPr/>
          </a:p>
        </p:txBody>
      </p:sp>
      <p:pic>
        <p:nvPicPr>
          <p:cNvPr id="67" name="Google Shape;67;p15" title="kl_vs_cjk_v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475" y="1175825"/>
            <a:ext cx="4270502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5"/>
          <p:cNvSpPr txBox="1"/>
          <p:nvPr/>
        </p:nvSpPr>
        <p:spPr>
          <a:xfrm>
            <a:off x="4980800" y="1929525"/>
            <a:ext cx="3713400" cy="21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-GB">
                <a:solidFill>
                  <a:schemeClr val="dk2"/>
                </a:solidFill>
              </a:rPr>
              <a:t>Top: perturbation sweep KL-div (sorry)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-GB">
                <a:solidFill>
                  <a:schemeClr val="dk2"/>
                </a:solidFill>
              </a:rPr>
              <a:t>Bottom: steering effectiveness as fraction of CJK characters starting from English prompt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-GB">
                <a:solidFill>
                  <a:schemeClr val="dk2"/>
                </a:solidFill>
              </a:rPr>
              <a:t>Component of MELBO_1 that's orthogonal to mean also steers, but in a different regime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-GB">
                <a:solidFill>
                  <a:schemeClr val="dk2"/>
                </a:solidFill>
              </a:rPr>
              <a:t>Component of mean orthogonal to MELBO_1 does nothing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Multi-contrastive steering/feature isolation</a:t>
            </a:r>
            <a:endParaRPr/>
          </a:p>
        </p:txBody>
      </p:sp>
      <p:sp>
        <p:nvSpPr>
          <p:cNvPr id="74" name="Google Shape;74;p16"/>
          <p:cNvSpPr txBox="1"/>
          <p:nvPr/>
        </p:nvSpPr>
        <p:spPr>
          <a:xfrm>
            <a:off x="362375" y="1111300"/>
            <a:ext cx="8141400" cy="34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Diff-of-means gives you vector between two concepts, not the concepts' vectors d_EM = mean(EN) - mean(ZH) \approx f_EN - f_ZH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Idea: If we contrast English against many languages, the English component is shared across all differences while the other languages point in other directions and cancel out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Stack them, SVD -&gt; Isolate f_EN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Validation: convergence</a:t>
            </a:r>
            <a:endParaRPr/>
          </a:p>
        </p:txBody>
      </p:sp>
      <p:sp>
        <p:nvSpPr>
          <p:cNvPr id="80" name="Google Shape;80;p17"/>
          <p:cNvSpPr txBox="1"/>
          <p:nvPr/>
        </p:nvSpPr>
        <p:spPr>
          <a:xfrm>
            <a:off x="362375" y="1017725"/>
            <a:ext cx="8401200" cy="7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Predict convergence as 1/sqrt(k); effectively independent measurements if features orthogonal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81" name="Google Shape;81;p17" title="scaling_curv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375" y="1787824"/>
            <a:ext cx="7734426" cy="2851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Validation: generalizes to held-out language</a:t>
            </a:r>
            <a:endParaRPr/>
          </a:p>
        </p:txBody>
      </p:sp>
      <p:pic>
        <p:nvPicPr>
          <p:cNvPr id="87" name="Google Shape;87;p18" title="arabic_coherenc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775" y="1103700"/>
            <a:ext cx="5765376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8"/>
          <p:cNvSpPr txBox="1"/>
          <p:nvPr/>
        </p:nvSpPr>
        <p:spPr>
          <a:xfrm>
            <a:off x="6280150" y="1920800"/>
            <a:ext cx="2796600" cy="3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-GB">
                <a:solidFill>
                  <a:schemeClr val="dk2"/>
                </a:solidFill>
              </a:rPr>
              <a:t>Arabic not in k=10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-GB">
                <a:solidFill>
                  <a:schemeClr val="dk2"/>
                </a:solidFill>
              </a:rPr>
              <a:t>Perplexity as proxy for coherence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-GB">
                <a:solidFill>
                  <a:schemeClr val="dk2"/>
                </a:solidFill>
              </a:rPr>
              <a:t>Different alphabet -&gt; easy to measure steering effect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-GB">
                <a:solidFill>
                  <a:schemeClr val="dk2"/>
                </a:solidFill>
              </a:rPr>
              <a:t>Better than diff-of-means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-GB">
                <a:solidFill>
                  <a:schemeClr val="dk2"/>
                </a:solidFill>
              </a:rPr>
              <a:t>Claim: We have English direction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Perturbation sweeps look… smoother?</a:t>
            </a:r>
            <a:endParaRPr/>
          </a:p>
        </p:txBody>
      </p:sp>
      <p:sp>
        <p:nvSpPr>
          <p:cNvPr id="94" name="Google Shape;94;p19"/>
          <p:cNvSpPr txBox="1"/>
          <p:nvPr/>
        </p:nvSpPr>
        <p:spPr>
          <a:xfrm>
            <a:off x="6806675" y="1413275"/>
            <a:ext cx="2265000" cy="25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dk2"/>
                </a:solidFill>
              </a:rPr>
              <a:t>Pretty linear for quite a range after plateau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dk2"/>
                </a:solidFill>
              </a:rPr>
              <a:t>Do we want to optimize for this profile?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dk2"/>
                </a:solidFill>
              </a:rPr>
              <a:t>Note: much less notable in L2?</a:t>
            </a:r>
            <a:endParaRPr sz="1700">
              <a:solidFill>
                <a:schemeClr val="dk2"/>
              </a:solidFill>
            </a:endParaRPr>
          </a:p>
        </p:txBody>
      </p:sp>
      <p:pic>
        <p:nvPicPr>
          <p:cNvPr id="95" name="Google Shape;95;p19" title="plateau_breaking_sweep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100" y="1824175"/>
            <a:ext cx="6501878" cy="23112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MELBO on diverse dataset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Top: max kl-div; Bottom: profile-matched kl-div</a:t>
            </a:r>
            <a:endParaRPr/>
          </a:p>
        </p:txBody>
      </p:sp>
      <p:pic>
        <p:nvPicPr>
          <p:cNvPr id="101" name="Google Shape;101;p20" title="sweep_all_zoome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600" y="3091050"/>
            <a:ext cx="5258752" cy="2223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20" title="sweep_all_zoome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2938" y="1337775"/>
            <a:ext cx="3866977" cy="163517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0"/>
          <p:cNvSpPr txBox="1"/>
          <p:nvPr/>
        </p:nvSpPr>
        <p:spPr>
          <a:xfrm>
            <a:off x="4646200" y="1653363"/>
            <a:ext cx="44619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2"/>
                </a:solidFill>
              </a:rPr>
              <a:t>Problem:</a:t>
            </a:r>
            <a:r>
              <a:rPr lang="en-GB">
                <a:solidFill>
                  <a:schemeClr val="dk2"/>
                </a:solidFill>
              </a:rPr>
              <a:t> MELBO directions break the model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2"/>
                </a:solidFill>
              </a:rPr>
              <a:t>Idea:</a:t>
            </a:r>
            <a:r>
              <a:rPr lang="en-GB">
                <a:solidFill>
                  <a:schemeClr val="dk2"/>
                </a:solidFill>
              </a:rPr>
              <a:t> Instead of direction of max perturbation, find direction that breaks off to ~1 KL-div around ~15 degrees (these are hyperparameters)</a:t>
            </a:r>
            <a:endParaRPr/>
          </a:p>
        </p:txBody>
      </p:sp>
      <p:sp>
        <p:nvSpPr>
          <p:cNvPr id="104" name="Google Shape;104;p20"/>
          <p:cNvSpPr txBox="1"/>
          <p:nvPr/>
        </p:nvSpPr>
        <p:spPr>
          <a:xfrm>
            <a:off x="5760025" y="3102650"/>
            <a:ext cx="30000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Quite a few interpretable! Steered with top ~10 and found: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AutoNum type="arabicPeriod"/>
            </a:pPr>
            <a:r>
              <a:rPr lang="en-GB">
                <a:solidFill>
                  <a:schemeClr val="dk2"/>
                </a:solidFill>
              </a:rPr>
              <a:t>numbers/math-y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AutoNum type="arabicPeriod"/>
            </a:pPr>
            <a:r>
              <a:rPr lang="en-GB">
                <a:solidFill>
                  <a:schemeClr val="dk2"/>
                </a:solidFill>
              </a:rPr>
              <a:t>Verbosity?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AutoNum type="arabicPeriod"/>
            </a:pPr>
            <a:r>
              <a:rPr lang="en-GB">
                <a:solidFill>
                  <a:schemeClr val="dk2"/>
                </a:solidFill>
              </a:rPr>
              <a:t>Economics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AutoNum type="arabicPeriod"/>
            </a:pPr>
            <a:r>
              <a:rPr lang="en-GB">
                <a:solidFill>
                  <a:schemeClr val="dk2"/>
                </a:solidFill>
              </a:rPr>
              <a:t>Academic Publication?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Auto-interp as per Anthropic</a:t>
            </a:r>
            <a:endParaRPr/>
          </a:p>
        </p:txBody>
      </p:sp>
      <p:sp>
        <p:nvSpPr>
          <p:cNvPr id="110" name="Google Shape;110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Correlate LLM-explainer with LLM-simulator of top-prompts activating directions</a:t>
            </a:r>
            <a:endParaRPr/>
          </a:p>
        </p:txBody>
      </p:sp>
      <p:pic>
        <p:nvPicPr>
          <p:cNvPr id="111" name="Google Shape;111;p21" title="correlation_histogr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3395" y="1765300"/>
            <a:ext cx="4628999" cy="2857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1"/>
          <p:cNvSpPr txBox="1"/>
          <p:nvPr/>
        </p:nvSpPr>
        <p:spPr>
          <a:xfrm>
            <a:off x="5568950" y="2178050"/>
            <a:ext cx="3124200" cy="3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Manual check on top few looks decent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Smaller numbers than Anthropic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Probably too little context: 5 tokens vs 128 their experiment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Questions/Directions</a:t>
            </a:r>
            <a:endParaRPr/>
          </a:p>
        </p:txBody>
      </p:sp>
      <p:sp>
        <p:nvSpPr>
          <p:cNvPr id="118" name="Google Shape;118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How to do interpretability at scale? Steering and looking at results isn't fun for 100 directions… Delegate to LLM? Something else?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Tried to generalize multi-contrastive steering to animals but did not work :-)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MELBO constrained to span of differences of animals/active dataset dogs also did not work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Is this direction interesting? Or should we stick to unconstrained, since we can apparently find features?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Keen on the 'geometry of plateau' direction? Feature radius vs random radius, I mean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Meeting 12/02/2026 - Summary</a:t>
            </a:r>
            <a:endParaRPr/>
          </a:p>
        </p:txBody>
      </p:sp>
      <p:sp>
        <p:nvSpPr>
          <p:cNvPr id="124" name="Google Shape;124;p23"/>
          <p:cNvSpPr txBox="1"/>
          <p:nvPr>
            <p:ph idx="1" type="body"/>
          </p:nvPr>
        </p:nvSpPr>
        <p:spPr>
          <a:xfrm>
            <a:off x="5797250" y="1152475"/>
            <a:ext cx="3035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/>
              <a:t>Last time:</a:t>
            </a:r>
            <a:r>
              <a:rPr lang="en-GB" sz="1200"/>
              <a:t> We can optimize for vector taking us from set of real activations to set of activations with small Jacobian norm!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200"/>
              <a:t>Up next:</a:t>
            </a:r>
            <a:r>
              <a:rPr lang="en-GB" sz="1200"/>
              <a:t> A few threads proposed:</a:t>
            </a:r>
            <a:endParaRPr sz="1200"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AutoNum type="arabicPeriod"/>
            </a:pPr>
            <a:r>
              <a:rPr lang="en-GB" sz="1200"/>
              <a:t>Do shifted activations have plateaus?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-GB" sz="1200"/>
              <a:t>Find steering vector that 'works'. Do resulting activations have plateaus? Follow-up: can we optimize them/the steering vector so that they do?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-GB" sz="1200"/>
              <a:t>How does steering compare plateau-wise to perturbing along random direction?</a:t>
            </a:r>
            <a:endParaRPr sz="1200"/>
          </a:p>
        </p:txBody>
      </p:sp>
      <p:pic>
        <p:nvPicPr>
          <p:cNvPr id="125" name="Google Shape;125;p23" title="eval_r6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075" y="1511300"/>
            <a:ext cx="5156774" cy="254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Do shifted activations have plateaus?</a:t>
            </a:r>
            <a:endParaRPr/>
          </a:p>
        </p:txBody>
      </p:sp>
      <p:sp>
        <p:nvSpPr>
          <p:cNvPr id="131" name="Google Shape;131;p24"/>
          <p:cNvSpPr txBox="1"/>
          <p:nvPr/>
        </p:nvSpPr>
        <p:spPr>
          <a:xfrm>
            <a:off x="406400" y="1128000"/>
            <a:ext cx="6889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200">
                <a:solidFill>
                  <a:schemeClr val="dk2"/>
                </a:solidFill>
              </a:rPr>
              <a:t>Yes! But smaller than real activations. Matching Jacobian norm not enough; minimizing it is better</a:t>
            </a:r>
            <a:endParaRPr sz="1200"/>
          </a:p>
        </p:txBody>
      </p:sp>
      <p:pic>
        <p:nvPicPr>
          <p:cNvPr id="132" name="Google Shape;132;p24" title="gpt2-large_4way_media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950" y="1669350"/>
            <a:ext cx="7328430" cy="324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 txBox="1"/>
          <p:nvPr>
            <p:ph type="title"/>
          </p:nvPr>
        </p:nvSpPr>
        <p:spPr>
          <a:xfrm>
            <a:off x="311700" y="165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Intermezzo: switched to Qwen3 0.6B</a:t>
            </a:r>
            <a:endParaRPr/>
          </a:p>
        </p:txBody>
      </p:sp>
      <p:sp>
        <p:nvSpPr>
          <p:cNvPr id="138" name="Google Shape;138;p25"/>
          <p:cNvSpPr txBox="1"/>
          <p:nvPr/>
        </p:nvSpPr>
        <p:spPr>
          <a:xfrm>
            <a:off x="368300" y="696200"/>
            <a:ext cx="8520600" cy="7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2"/>
                </a:solidFill>
              </a:rPr>
              <a:t>Sanity check: Does it exhibit plateaus?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200">
                <a:solidFill>
                  <a:schemeClr val="dk2"/>
                </a:solidFill>
              </a:rPr>
              <a:t>Aside: Previous mentees of Stefan found no plateaus in Gemma (https://arxiv.org/abs/2409.17113). What's up with that?</a:t>
            </a:r>
            <a:endParaRPr sz="1200">
              <a:solidFill>
                <a:schemeClr val="dk2"/>
              </a:solidFill>
            </a:endParaRPr>
          </a:p>
        </p:txBody>
      </p:sp>
      <p:pic>
        <p:nvPicPr>
          <p:cNvPr id="139" name="Google Shape;139;p25" title="sweep_media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9563" y="1497300"/>
            <a:ext cx="7544863" cy="33414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 txBox="1"/>
          <p:nvPr>
            <p:ph type="title"/>
          </p:nvPr>
        </p:nvSpPr>
        <p:spPr>
          <a:xfrm>
            <a:off x="311700" y="165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does steering compare plateau-wise to perturbing along random direction?</a:t>
            </a:r>
            <a:endParaRPr/>
          </a:p>
        </p:txBody>
      </p:sp>
      <p:pic>
        <p:nvPicPr>
          <p:cNvPr id="145" name="Google Shape;145;p26" title="steering_vs_random_media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8400" y="2154375"/>
            <a:ext cx="6299203" cy="2845101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6"/>
          <p:cNvSpPr txBox="1"/>
          <p:nvPr/>
        </p:nvSpPr>
        <p:spPr>
          <a:xfrm>
            <a:off x="336600" y="965200"/>
            <a:ext cx="84708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2"/>
                </a:solidFill>
              </a:rPr>
              <a:t>Steering direction: difference-of-means English, Mandarin prompts (generated by Claude, I don't speak Mandarin)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2"/>
                </a:solidFill>
              </a:rPr>
              <a:t>Perturb along steering direction; measure impact on later layer… Looks just like random??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2"/>
                </a:solidFill>
              </a:rPr>
              <a:t>Hypothesis: steering vector is not clean feature, but superposition of many features -&gt; random-like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2"/>
                </a:solidFill>
              </a:rPr>
              <a:t>Potential confounder: perturbing at layer 2, extracted vector at layer 14 (but holds also with both at layer 14; see later slide)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7"/>
          <p:cNvSpPr txBox="1"/>
          <p:nvPr>
            <p:ph type="title"/>
          </p:nvPr>
        </p:nvSpPr>
        <p:spPr>
          <a:xfrm>
            <a:off x="311700" y="165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Can we decompose the matrix of differences?</a:t>
            </a:r>
            <a:endParaRPr/>
          </a:p>
        </p:txBody>
      </p:sp>
      <p:sp>
        <p:nvSpPr>
          <p:cNvPr id="152" name="Google Shape;152;p27"/>
          <p:cNvSpPr txBox="1"/>
          <p:nvPr/>
        </p:nvSpPr>
        <p:spPr>
          <a:xfrm>
            <a:off x="584250" y="863600"/>
            <a:ext cx="84708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2"/>
                </a:solidFill>
              </a:rPr>
              <a:t>Performed SVD on the matrix of differences at each layer (so stacked vectors of activation differences), checked how much variance is explained by PCs</a:t>
            </a:r>
            <a:endParaRPr sz="1200">
              <a:solidFill>
                <a:schemeClr val="dk2"/>
              </a:solidFill>
            </a:endParaRPr>
          </a:p>
        </p:txBody>
      </p:sp>
      <p:pic>
        <p:nvPicPr>
          <p:cNvPr id="153" name="Google Shape;153;p27" title="summary_across_layer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350" y="1504988"/>
            <a:ext cx="8197852" cy="2133524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7"/>
          <p:cNvSpPr txBox="1"/>
          <p:nvPr/>
        </p:nvSpPr>
        <p:spPr>
          <a:xfrm>
            <a:off x="584250" y="3663950"/>
            <a:ext cx="75057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2"/>
                </a:solidFill>
              </a:rPr>
              <a:t>Dips in mid layers appear to be due to token-length mismatches in some contrastive pairs; removing outliers gets rid of them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2"/>
                </a:solidFill>
              </a:rPr>
              <a:t>At most layers, PC1 extremely aligned with mean; but vector is multidimensional: top PC explains only ~30% of variance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Can we optimize the decomposition of the language steering vector?</a:t>
            </a:r>
            <a:endParaRPr/>
          </a:p>
        </p:txBody>
      </p:sp>
      <p:sp>
        <p:nvSpPr>
          <p:cNvPr id="160" name="Google Shape;160;p28"/>
          <p:cNvSpPr txBox="1"/>
          <p:nvPr>
            <p:ph idx="1" type="body"/>
          </p:nvPr>
        </p:nvSpPr>
        <p:spPr>
          <a:xfrm>
            <a:off x="349800" y="1374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Goal: </a:t>
            </a:r>
            <a:r>
              <a:rPr lang="en-GB"/>
              <a:t>Find the direction *within the span of the difference matrix D* that maximizes KL divergence when used as a spherical perturbation.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Why? This asks: "which component of the language steering vector causes the most behavioral change?"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Note that this is kind of like constrained MELBO.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Fix magnitude of perturbation at 15 angles: guess; still in plateau for random direction, but perhaps not for feature direction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 can, and it breaks the plateau! </a:t>
            </a:r>
            <a:endParaRPr/>
          </a:p>
        </p:txBody>
      </p:sp>
      <p:pic>
        <p:nvPicPr>
          <p:cNvPr id="166" name="Google Shape;166;p29" title="sweep_comparis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750" y="954225"/>
            <a:ext cx="7842248" cy="333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9"/>
          <p:cNvSpPr txBox="1"/>
          <p:nvPr/>
        </p:nvSpPr>
        <p:spPr>
          <a:xfrm>
            <a:off x="660400" y="4476750"/>
            <a:ext cx="7531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So does PC1 - very similar behavior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0"/>
          <p:cNvSpPr txBox="1"/>
          <p:nvPr>
            <p:ph type="title"/>
          </p:nvPr>
        </p:nvSpPr>
        <p:spPr>
          <a:xfrm>
            <a:off x="311700" y="3815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Is activation space super spiky?</a:t>
            </a:r>
            <a:endParaRPr/>
          </a:p>
        </p:txBody>
      </p:sp>
      <p:sp>
        <p:nvSpPr>
          <p:cNvPr id="173" name="Google Shape;173;p30"/>
          <p:cNvSpPr txBox="1"/>
          <p:nvPr/>
        </p:nvSpPr>
        <p:spPr>
          <a:xfrm>
            <a:off x="488950" y="4197350"/>
            <a:ext cx="7531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-GB">
                <a:solidFill>
                  <a:schemeClr val="dk2"/>
                </a:solidFill>
              </a:rPr>
              <a:t>At layer 14, PC1 and mean have ~0.98 cosine similarity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-GB">
                <a:solidFill>
                  <a:schemeClr val="dk2"/>
                </a:solidFill>
              </a:rPr>
              <a:t>Yet, perturbing along mean looks random, perturbing along PC1 looks like feature!!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174" name="Google Shape;17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950" y="954225"/>
            <a:ext cx="3659820" cy="315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43449" y="1017725"/>
            <a:ext cx="3901600" cy="288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1"/>
          <p:cNvSpPr txBox="1"/>
          <p:nvPr>
            <p:ph type="title"/>
          </p:nvPr>
        </p:nvSpPr>
        <p:spPr>
          <a:xfrm>
            <a:off x="311700" y="3815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Steering behavior of PC1, MELBO_1, Mean</a:t>
            </a:r>
            <a:endParaRPr/>
          </a:p>
        </p:txBody>
      </p:sp>
      <p:sp>
        <p:nvSpPr>
          <p:cNvPr id="181" name="Google Shape;181;p31"/>
          <p:cNvSpPr txBox="1"/>
          <p:nvPr/>
        </p:nvSpPr>
        <p:spPr>
          <a:xfrm>
            <a:off x="558800" y="1149350"/>
            <a:ext cx="85851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-GB" sz="1800">
                <a:solidFill>
                  <a:schemeClr val="dk2"/>
                </a:solidFill>
              </a:rPr>
              <a:t>Surprisingly, not that different?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-GB" sz="1800">
                <a:solidFill>
                  <a:schemeClr val="dk2"/>
                </a:solidFill>
              </a:rPr>
              <a:t>Steering along these directions produces the expected change - model switches between English and Mandarin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-GB" sz="1800">
                <a:solidFill>
                  <a:schemeClr val="dk2"/>
                </a:solidFill>
              </a:rPr>
              <a:t>slightly easier (less magnitude required) with MELBO_1, but not a big difference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-GB" sz="1800">
                <a:solidFill>
                  <a:schemeClr val="dk2"/>
                </a:solidFill>
              </a:rPr>
              <a:t>Preliminary and qualitative; needs more work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Strikes me as unexpected? I would expect steering along the mean direction to require much more magnitude to work?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Is activation space super spiky? People think so!</a:t>
            </a:r>
            <a:endParaRPr/>
          </a:p>
        </p:txBody>
      </p:sp>
      <p:pic>
        <p:nvPicPr>
          <p:cNvPr id="187" name="Google Shape;18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1850" y="2023850"/>
            <a:ext cx="7131049" cy="29609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32"/>
          <p:cNvSpPr txBox="1"/>
          <p:nvPr/>
        </p:nvSpPr>
        <p:spPr>
          <a:xfrm>
            <a:off x="387350" y="1054100"/>
            <a:ext cx="8401200" cy="7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Stolen from Stefan's LessWrong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These results support this picture, I think? And that PC1/MELBO_1 is a feature?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3"/>
          <p:cNvSpPr txBox="1"/>
          <p:nvPr>
            <p:ph type="title"/>
          </p:nvPr>
        </p:nvSpPr>
        <p:spPr>
          <a:xfrm>
            <a:off x="343450" y="305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Short aside: similar behavior with different languages</a:t>
            </a:r>
            <a:endParaRPr/>
          </a:p>
        </p:txBody>
      </p:sp>
      <p:pic>
        <p:nvPicPr>
          <p:cNvPr id="194" name="Google Shape;194;p33" title="dutch_vs_chinese_comparis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3775" y="1462225"/>
            <a:ext cx="6635749" cy="2864075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33"/>
          <p:cNvSpPr txBox="1"/>
          <p:nvPr/>
        </p:nvSpPr>
        <p:spPr>
          <a:xfrm>
            <a:off x="622300" y="844550"/>
            <a:ext cx="7175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I was worried that steering looking random had to do with English and Mandarin being very different -&gt; hence try closer languages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96" name="Google Shape;196;p33"/>
          <p:cNvSpPr txBox="1"/>
          <p:nvPr/>
        </p:nvSpPr>
        <p:spPr>
          <a:xfrm>
            <a:off x="968400" y="4326300"/>
            <a:ext cx="7207200" cy="7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Looks similar? Dutch does respond 'more' but idk this is not an in-depth investigation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Questions and directions</a:t>
            </a:r>
            <a:endParaRPr/>
          </a:p>
        </p:txBody>
      </p:sp>
      <p:sp>
        <p:nvSpPr>
          <p:cNvPr id="202" name="Google Shape;202;p34"/>
          <p:cNvSpPr txBox="1"/>
          <p:nvPr/>
        </p:nvSpPr>
        <p:spPr>
          <a:xfrm>
            <a:off x="406400" y="1117600"/>
            <a:ext cx="7969200" cy="3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-GB" sz="1800">
                <a:solidFill>
                  <a:schemeClr val="dk2"/>
                </a:solidFill>
              </a:rPr>
              <a:t>Steering is autoregressive: activations change at each step, so the exact feature direction shifts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-GB" sz="1800">
                <a:solidFill>
                  <a:schemeClr val="dk2"/>
                </a:solidFill>
              </a:rPr>
              <a:t>Hypothesis: Fixed directions (MELBO_1, PC1, mean) all point roughly right, so they average out and steer similarly despite very different single-shot perturbation behavior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-GB" sz="1800">
                <a:solidFill>
                  <a:schemeClr val="dk2"/>
                </a:solidFill>
              </a:rPr>
              <a:t>Testable: does MELBO_1 still break the plateau on held-out activations? If yes, it's a globally special direction. If no, the single-shot result reflects activation-specific alignment, not a cleaner feature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-GB" sz="1800">
                <a:solidFill>
                  <a:schemeClr val="dk2"/>
                </a:solidFill>
              </a:rPr>
              <a:t>If not globally special, testable prediction: for same 'steering magnitude budget', many small pushes (e.g., steer at every token generation) work better than few big pushes (e.g., steer 5x as strong every 5th token)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-GB" sz="1800">
                <a:solidFill>
                  <a:schemeClr val="dk2"/>
                </a:solidFill>
              </a:rPr>
              <a:t>Quick test: steer with activation shift vector (first slide); does it do something interpretable?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Meeting 10/02/2026 - Summary</a:t>
            </a:r>
            <a:endParaRPr/>
          </a:p>
        </p:txBody>
      </p:sp>
      <p:sp>
        <p:nvSpPr>
          <p:cNvPr id="208" name="Google Shape;208;p35"/>
          <p:cNvSpPr txBox="1"/>
          <p:nvPr>
            <p:ph idx="1" type="body"/>
          </p:nvPr>
        </p:nvSpPr>
        <p:spPr>
          <a:xfrm>
            <a:off x="5797250" y="1152475"/>
            <a:ext cx="3035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/>
              <a:t>Last time:</a:t>
            </a:r>
            <a:r>
              <a:rPr lang="en-GB" sz="1200"/>
              <a:t> Matching first two moments of Gaussian does not result in real-like activations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 sz="1200"/>
              <a:t>Up next:</a:t>
            </a:r>
            <a:r>
              <a:rPr lang="en-GB" sz="1200"/>
              <a:t> Can we optimize for vector that takes us from set of real activations to set of real-like activations, as measured by Jacobian norm distribution? </a:t>
            </a:r>
            <a:endParaRPr sz="1200"/>
          </a:p>
        </p:txBody>
      </p:sp>
      <p:pic>
        <p:nvPicPr>
          <p:cNvPr id="209" name="Google Shape;209;p35" title="frobenius_norm_v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775" y="1639574"/>
            <a:ext cx="5459873" cy="268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Yes! With a caveat…</a:t>
            </a:r>
            <a:endParaRPr/>
          </a:p>
        </p:txBody>
      </p:sp>
      <p:sp>
        <p:nvSpPr>
          <p:cNvPr id="215" name="Google Shape;215;p36"/>
          <p:cNvSpPr txBox="1"/>
          <p:nvPr>
            <p:ph idx="1" type="body"/>
          </p:nvPr>
        </p:nvSpPr>
        <p:spPr>
          <a:xfrm>
            <a:off x="5797250" y="1152475"/>
            <a:ext cx="3035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/>
              <a:t>Method: </a:t>
            </a:r>
            <a:endParaRPr b="1" sz="1200"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-GB" sz="1200"/>
              <a:t>Minimizing Jacobian of last layer activations w.r.t. Layer 6 activations, last-token only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200"/>
              <a:t>Fix magnitude to mean inter-activation magnitude; optimize direction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/>
              <a:t>Spot the mistake? :-) Wrong optimization target: we want real-like, _not_ smallest Jacobian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200"/>
              <a:t>Std 34 -&gt; 7</a:t>
            </a:r>
            <a:endParaRPr sz="1200"/>
          </a:p>
        </p:txBody>
      </p:sp>
      <p:pic>
        <p:nvPicPr>
          <p:cNvPr id="216" name="Google Shape;216;p36" title="training_r6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15675"/>
            <a:ext cx="5323699" cy="133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36" title="eval_r6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6325" y="2571750"/>
            <a:ext cx="4653182" cy="229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Does the resulting vector mean anything?</a:t>
            </a:r>
            <a:endParaRPr/>
          </a:p>
        </p:txBody>
      </p:sp>
      <p:sp>
        <p:nvSpPr>
          <p:cNvPr id="223" name="Google Shape;223;p37"/>
          <p:cNvSpPr txBox="1"/>
          <p:nvPr/>
        </p:nvSpPr>
        <p:spPr>
          <a:xfrm>
            <a:off x="311700" y="1076625"/>
            <a:ext cx="8375100" cy="38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I'm not sure, but I don't think so. Are these even the right metrics? (This is over 100 real activations)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24" name="Google Shape;224;p37" title="projection_analysi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075" y="2009350"/>
            <a:ext cx="8520598" cy="27749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Does the resulting vector mean anything?</a:t>
            </a:r>
            <a:endParaRPr/>
          </a:p>
        </p:txBody>
      </p:sp>
      <p:sp>
        <p:nvSpPr>
          <p:cNvPr id="230" name="Google Shape;230;p38"/>
          <p:cNvSpPr txBox="1"/>
          <p:nvPr/>
        </p:nvSpPr>
        <p:spPr>
          <a:xfrm>
            <a:off x="311700" y="1076625"/>
            <a:ext cx="8375100" cy="38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I'm not sure, but I don't think so. Some primitive steering: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31" name="Google Shape;231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9425" y="1624500"/>
            <a:ext cx="6419850" cy="419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Next steps and questions</a:t>
            </a:r>
            <a:endParaRPr/>
          </a:p>
        </p:txBody>
      </p:sp>
      <p:sp>
        <p:nvSpPr>
          <p:cNvPr id="237" name="Google Shape;237;p39"/>
          <p:cNvSpPr txBox="1"/>
          <p:nvPr/>
        </p:nvSpPr>
        <p:spPr>
          <a:xfrm>
            <a:off x="282075" y="1100300"/>
            <a:ext cx="8375100" cy="38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-GB" sz="1800">
                <a:solidFill>
                  <a:schemeClr val="dk2"/>
                </a:solidFill>
              </a:rPr>
              <a:t>Obvious next step: do the optimization with the right target :-)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-GB" sz="1800">
                <a:solidFill>
                  <a:schemeClr val="dk2"/>
                </a:solidFill>
              </a:rPr>
              <a:t>Potential 2nd next step: match also std of Jacobian norm distribution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-GB" sz="1800">
                <a:solidFill>
                  <a:schemeClr val="dk2"/>
                </a:solidFill>
              </a:rPr>
              <a:t>Potential nth next steps: optimize for other properties (directional?)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-GB" sz="1800">
                <a:solidFill>
                  <a:schemeClr val="dk2"/>
                </a:solidFill>
              </a:rPr>
              <a:t>Q: Thoughts on methodology? Valuable to sweep for different values of magnitude?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-GB" sz="1800">
                <a:solidFill>
                  <a:schemeClr val="dk2"/>
                </a:solidFill>
              </a:rPr>
              <a:t>Trivial for small (stay in plateau); perhaps impossible at some point? Idk SGD strong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-GB" sz="1800">
                <a:solidFill>
                  <a:schemeClr val="dk2"/>
                </a:solidFill>
              </a:rPr>
              <a:t>Q: Is 'does this (resulting) vector mean anything the right question'? What about 'what are these activations that we find?'?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-GB" sz="1800">
                <a:solidFill>
                  <a:schemeClr val="dk2"/>
                </a:solidFill>
              </a:rPr>
              <a:t>Q: How to answer the above questions?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-GB" sz="1800">
                <a:solidFill>
                  <a:schemeClr val="dk2"/>
                </a:solidFill>
              </a:rPr>
              <a:t>Projections onto real activations?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-GB" sz="1800">
                <a:solidFill>
                  <a:schemeClr val="dk2"/>
                </a:solidFill>
              </a:rPr>
              <a:t>Steering-like experiments and look at output?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-GB" sz="1800">
                <a:solidFill>
                  <a:schemeClr val="dk2"/>
                </a:solidFill>
              </a:rPr>
              <a:t>Other things I haven't thought of?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solidFill>
                  <a:srgbClr val="000000"/>
                </a:solidFill>
              </a:rPr>
              <a:t>Meeting 27/02/2026 - Contents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8229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595959"/>
                </a:solidFill>
              </a:rPr>
              <a:t>Today: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595959"/>
                </a:solidFill>
              </a:rPr>
              <a:t>1. Plateau-ness degrades away from real activations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595959"/>
                </a:solidFill>
              </a:rPr>
              <a:t>2. Cross-group feature composition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595959"/>
                </a:solidFill>
              </a:rPr>
              <a:t>3. Jacobian optimizations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595959"/>
                </a:solidFill>
              </a:rPr>
              <a:t>4. Quantitative model for plateau-breaking angles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595959"/>
                </a:solidFill>
              </a:rPr>
              <a:t>5. ChessGPT: three-regime validation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595959"/>
                </a:solidFill>
              </a:rPr>
              <a:t>6. Subspace scaling — 25 features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595959"/>
                </a:solidFill>
              </a:rPr>
              <a:t>7. Feature refinement + progressive discovery (~140 features)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595959"/>
                </a:solidFill>
              </a:rPr>
              <a:t>8. Subspace scaling — 135 features with variable thresholds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595959"/>
                </a:solidFill>
              </a:rPr>
              <a:t>9. Feature reconstruction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595959"/>
                </a:solidFill>
              </a:rPr>
              <a:t>10. Discussion / next steps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solidFill>
                  <a:srgbClr val="000000"/>
                </a:solidFill>
              </a:rPr>
              <a:t>Plateau-ness degrades away from real activations</a:t>
            </a:r>
          </a:p>
        </p:txBody>
      </p:sp>
      <p:pic>
        <p:nvPicPr>
          <p:cNvPr id="3" name="Picture 2" descr="plateau_width_vs_stee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3840480" cy="1060036"/>
          </a:xfrm>
          <a:prstGeom prst="rect">
            <a:avLst/>
          </a:prstGeom>
        </p:spPr>
      </p:pic>
      <p:pic>
        <p:nvPicPr>
          <p:cNvPr id="4" name="Picture 3" descr="kl_curves_by_steer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097280"/>
            <a:ext cx="4297680" cy="142358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4114800"/>
            <a:ext cx="8503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595959"/>
                </a:solidFill>
              </a:rPr>
              <a:t>• Steer at increasing magnitudes, measure plateau width → plateau shrinks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solidFill>
                  <a:srgbClr val="000000"/>
                </a:solidFill>
              </a:rPr>
              <a:t>Cross-group feature composition</a:t>
            </a:r>
          </a:p>
        </p:txBody>
      </p:sp>
      <p:pic>
        <p:nvPicPr>
          <p:cNvPr id="3" name="Picture 2" descr="crossgroup_composition_fig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3840480" cy="3433129"/>
          </a:xfrm>
          <a:prstGeom prst="rect">
            <a:avLst/>
          </a:prstGeom>
        </p:spPr>
      </p:pic>
      <p:pic>
        <p:nvPicPr>
          <p:cNvPr id="4" name="Picture 3" descr="feature_vs_random_sweep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097280"/>
            <a:ext cx="4297680" cy="190113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4114800"/>
            <a:ext cx="8503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595959"/>
                </a:solidFill>
              </a:rPr>
              <a:t>• Russian + C = Russian C. Scaling monotonic but weak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595959"/>
                </a:solidFill>
              </a:rPr>
              <a:t>• Methodological note: must include dominant language in multi-contrastive set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solidFill>
                  <a:srgbClr val="000000"/>
                </a:solidFill>
              </a:rPr>
              <a:t>Jacobian Optimizations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4389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595959"/>
                </a:solidFill>
              </a:rPr>
              <a:t>• Approach: </a:t>
            </a:r>
            <a:r>
              <a:rPr sz="1200">
                <a:solidFill>
                  <a:srgbClr val="595959"/>
                </a:solidFill>
              </a:rPr>
              <a:t>optimize for directions that minimize Jacobian norm of resulting activations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595959"/>
                </a:solidFill>
              </a:rPr>
              <a:t>• Result: found directions producing real-ish activations with plateaus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595959"/>
                </a:solidFill>
              </a:rPr>
              <a:t>• But: </a:t>
            </a:r>
            <a:r>
              <a:rPr sz="1200">
                <a:solidFill>
                  <a:srgbClr val="595959"/>
                </a:solidFill>
              </a:rPr>
              <a:t>perturbation plots along these directions look random (right)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595959"/>
                </a:solidFill>
              </a:rPr>
              <a:t>• Steering: minimal changes, then model breaks down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595959"/>
                </a:solidFill>
              </a:rPr>
              <a:t/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595959"/>
                </a:solidFill>
              </a:rPr>
              <a:t>• Conclusion: </a:t>
            </a:r>
            <a:r>
              <a:rPr sz="1200">
                <a:solidFill>
                  <a:srgbClr val="595959"/>
                </a:solidFill>
              </a:rPr>
              <a:t>optimizers can find directions producing similar activations that aren't features</a:t>
            </a:r>
          </a:p>
        </p:txBody>
      </p:sp>
      <p:pic>
        <p:nvPicPr>
          <p:cNvPr id="4" name="Picture 3" descr="perturbation_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097280"/>
            <a:ext cx="3840480" cy="1593024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solidFill>
                  <a:srgbClr val="000000"/>
                </a:solidFill>
              </a:rPr>
              <a:t>Quantitative model for plateau-breaking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595959"/>
                </a:solidFill>
              </a:rPr>
              <a:t>• Key equation:</a:t>
            </a:r>
          </a:p>
        </p:txBody>
      </p:sp>
      <p:pic>
        <p:nvPicPr>
          <p:cNvPr id="4" name="Picture 3" descr="eq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005840"/>
            <a:ext cx="2385793" cy="411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155448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595959"/>
                </a:solidFill>
              </a:rPr>
              <a:t>where α(d) = max alignment of d with any feature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0116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595959"/>
                </a:solidFill>
              </a:rPr>
              <a:t>• Three predictions:</a:t>
            </a:r>
            <a:r>
              <a:rPr sz="1400">
                <a:solidFill>
                  <a:srgbClr val="595959"/>
                </a:solidFill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595959"/>
                </a:solidFill>
              </a:rPr>
              <a:t>1. Single feature:</a:t>
            </a:r>
          </a:p>
        </p:txBody>
      </p:sp>
      <p:pic>
        <p:nvPicPr>
          <p:cNvPr id="8" name="Picture 7" descr="eq_pred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2331720"/>
            <a:ext cx="1965960" cy="320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2834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595959"/>
                </a:solidFill>
              </a:rPr>
              <a:t>2. Random in k-dim subspace:</a:t>
            </a:r>
          </a:p>
        </p:txBody>
      </p:sp>
      <p:pic>
        <p:nvPicPr>
          <p:cNvPr id="10" name="Picture 9" descr="eq_pred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154680"/>
            <a:ext cx="3247356" cy="4114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3657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595959"/>
                </a:solidFill>
              </a:rPr>
              <a:t>3. Fully random:</a:t>
            </a:r>
          </a:p>
        </p:txBody>
      </p:sp>
      <p:pic>
        <p:nvPicPr>
          <p:cNvPr id="12" name="Picture 11" descr="eq_pred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977639"/>
            <a:ext cx="3526971" cy="4114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65760" y="44805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595959"/>
                </a:solidFill>
              </a:rPr>
              <a:t>• Details in the shared write-up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solidFill>
                  <a:srgbClr val="000000"/>
                </a:solidFill>
              </a:rPr>
              <a:t>ChessGPT: three-regime validation</a:t>
            </a:r>
          </a:p>
        </p:txBody>
      </p:sp>
      <p:pic>
        <p:nvPicPr>
          <p:cNvPr id="3" name="Picture 2" descr="subspace_vs_rand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4572000" cy="2714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0" y="1188720"/>
            <a:ext cx="3749039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595959"/>
                </a:solidFill>
              </a:rPr>
              <a:t>Observed vs predicted:</a:t>
            </a:r>
            <a:r>
              <a:rPr sz="1400">
                <a:solidFill>
                  <a:srgbClr val="595959"/>
                </a:solidFill>
              </a:rPr>
              <a:t/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595959"/>
                </a:solidFill>
              </a:rPr>
              <a:t/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595959"/>
                </a:solidFill>
              </a:rPr>
              <a:t>• Features: </a:t>
            </a:r>
            <a:r>
              <a:rPr sz="1400">
                <a:solidFill>
                  <a:srgbClr val="595959"/>
                </a:solidFill>
              </a:rPr>
              <a:t>~5.5°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595959"/>
                </a:solidFill>
              </a:rPr>
              <a:t>• Subspace random: </a:t>
            </a:r>
            <a:r>
              <a:rPr sz="1400">
                <a:solidFill>
                  <a:srgbClr val="595959"/>
                </a:solidFill>
              </a:rPr>
              <a:t>~12.5° (pred: 11°)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595959"/>
                </a:solidFill>
              </a:rPr>
              <a:t>• Fully random: </a:t>
            </a:r>
            <a:r>
              <a:rPr sz="1400">
                <a:solidFill>
                  <a:srgbClr val="595959"/>
                </a:solidFill>
              </a:rPr>
              <a:t>~36.3° (pred: 36°, m≈1000)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solidFill>
                  <a:srgbClr val="000000"/>
                </a:solidFill>
              </a:rPr>
              <a:t>Subspace scaling — 25 features</a:t>
            </a:r>
          </a:p>
        </p:txBody>
      </p:sp>
      <p:pic>
        <p:nvPicPr>
          <p:cNvPr id="3" name="Picture 2" descr="subspace_sca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4572000" cy="323536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0" y="1188720"/>
            <a:ext cx="3749039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595959"/>
                </a:solidFill>
              </a:rPr>
              <a:t>• Directionally correct, underpredicts by 20–30%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5959"/>
                </a:solidFill>
              </a:rPr>
              <a:t/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595959"/>
                </a:solidFill>
              </a:rPr>
              <a:t>• Two confounders:</a:t>
            </a:r>
            <a:r>
              <a:rPr sz="1300">
                <a:solidFill>
                  <a:srgbClr val="595959"/>
                </a:solidFill>
              </a:rPr>
              <a:t/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5959"/>
                </a:solidFill>
              </a:rPr>
              <a:t>    1. Dirty features (rotated from true features)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5959"/>
                </a:solidFill>
              </a:rPr>
              <a:t>    2. Variable θ₁ per feature (model assumes uniform)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solidFill>
                  <a:srgbClr val="000000"/>
                </a:solidFill>
              </a:rPr>
              <a:t>Feature refinement + progressive discovery</a:t>
            </a:r>
          </a:p>
        </p:txBody>
      </p:sp>
      <p:pic>
        <p:nvPicPr>
          <p:cNvPr id="3" name="Picture 2" descr="refine_all_fea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4023360" cy="1647662"/>
          </a:xfrm>
          <a:prstGeom prst="rect">
            <a:avLst/>
          </a:prstGeom>
        </p:spPr>
      </p:pic>
      <p:pic>
        <p:nvPicPr>
          <p:cNvPr id="4" name="Picture 3" descr="progressive_discove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097280"/>
            <a:ext cx="4297680" cy="15074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023360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595959"/>
                </a:solidFill>
              </a:rPr>
              <a:t>• Local optimization cleans features. θ₁ range: 2.2–5.5°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4023360"/>
            <a:ext cx="4297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595959"/>
                </a:solidFill>
              </a:rPr>
              <a:t>• Progressive MELBO: ~140 features in 512-d space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solidFill>
                  <a:srgbClr val="000000"/>
                </a:solidFill>
              </a:rPr>
              <a:t>Subspace scaling — 135 features, variable thresholds</a:t>
            </a:r>
          </a:p>
        </p:txBody>
      </p:sp>
      <p:pic>
        <p:nvPicPr>
          <p:cNvPr id="3" name="Picture 2" descr="subspace_pred_scaling_cd0.1_si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4572000" cy="32322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0" y="1188720"/>
            <a:ext cx="3749039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595959"/>
                </a:solidFill>
              </a:rPr>
              <a:t>• Predicted trend increases, empirical is flat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595959"/>
                </a:solidFill>
              </a:rPr>
              <a:t>• Error bars overlap but trends disagree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595959"/>
                </a:solidFill>
              </a:rPr>
              <a:t/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595959"/>
                </a:solidFill>
              </a:rPr>
              <a:t>• Current status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solidFill>
                  <a:srgbClr val="000000"/>
                </a:solidFill>
              </a:rPr>
              <a:t>Feature reconstruction</a:t>
            </a:r>
          </a:p>
        </p:txBody>
      </p:sp>
      <p:pic>
        <p:nvPicPr>
          <p:cNvPr id="3" name="Picture 2" descr="reconstru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4389120" cy="143618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846320" y="1188720"/>
            <a:ext cx="3657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595959"/>
                </a:solidFill>
              </a:rPr>
              <a:t>• 62 directions explain 93.4% variance. Top 3 explain 83%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5959"/>
                </a:solidFill>
              </a:rPr>
              <a:t/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5959"/>
                </a:solidFill>
              </a:rPr>
              <a:t>• Most residual plateau-breaking angles close to random baseline, but some outliers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5959"/>
                </a:solidFill>
              </a:rPr>
              <a:t/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5959"/>
                </a:solidFill>
              </a:rPr>
              <a:t>• Outliers suggest we can extract more features from residuals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5959"/>
                </a:solidFill>
              </a:rPr>
              <a:t/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5959"/>
                </a:solidFill>
              </a:rPr>
              <a:t>• d₁ correlates r &gt; 0.96 with move count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solidFill>
                  <a:srgbClr val="000000"/>
                </a:solidFill>
              </a:rPr>
              <a:t>Discussion /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8229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595959"/>
                </a:solidFill>
              </a:rPr>
              <a:t>• Reference research directions document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595959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595959"/>
                </a:solidFill>
              </a:rPr>
              <a:t>• What's prioritized, what's open for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