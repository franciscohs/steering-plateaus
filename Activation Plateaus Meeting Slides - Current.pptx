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6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7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9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2" name="Google Shape;172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3" name="Google Shape;203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" name="Google Shape;209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0" name="Google Shape;230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7" name="Google Shape;237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" name="Google Shape;251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8" name="Google Shape;258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6" name="Google Shape;266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" name="Google Shape;272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9" name="Google Shape;279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3" name="Google Shape;293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5" name="Google Shape;315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2" name="Google Shape;322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2" name="Google Shape;22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3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3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2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6.png"/><Relationship Id="rId4" Type="http://schemas.openxmlformats.org/officeDocument/2006/relationships/image" Target="../media/image18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1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9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Relationship Id="rId4" Type="http://schemas.openxmlformats.org/officeDocument/2006/relationships/image" Target="../media/image9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7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-GB"/>
              <a:t>Activation Plateaus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-GB"/>
              <a:t>Meeting Slides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r>
              <a:rPr lang="en-GB"/>
              <a:t>Francisco Ferreira da Silva, Arnau Marin-Llobet and Stefan Heimersheim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sz="2800">
                <a:solidFill>
                  <a:srgbClr val="000000"/>
                </a:solidFill>
              </a:rPr>
              <a:t>Meeting 27/02/2026 - Contents</a:t>
            </a:r>
            <a:endParaRPr/>
          </a:p>
        </p:txBody>
      </p:sp>
      <p:sp>
        <p:nvSpPr>
          <p:cNvPr id="61" name="Google Shape;61;p14"/>
          <p:cNvSpPr txBox="1"/>
          <p:nvPr/>
        </p:nvSpPr>
        <p:spPr>
          <a:xfrm>
            <a:off x="378460" y="1129030"/>
            <a:ext cx="8229600" cy="348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Today: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1. Plateau-ness degrades away from real activations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2. Cross-group feature composition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3. Jacobian optimizations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4. Quantitative model for plateau-breaking angles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5. ChessGPT: three-regime validation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6. Subspace scaling — 25 features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7. Feature refinement + progressive discovery (~140 features)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8. Subspace scaling — 135 features with variable thresholds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9. Feature reconstruction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10. Discussion / next steps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sz="2800">
                <a:solidFill>
                  <a:srgbClr val="000000"/>
                </a:solidFill>
              </a:rPr>
              <a:t>Quantitative model for plateau-breaking</a:t>
            </a:r>
            <a:endParaRPr/>
          </a:p>
        </p:txBody>
      </p:sp>
      <p:sp>
        <p:nvSpPr>
          <p:cNvPr id="67" name="Google Shape;67;p15"/>
          <p:cNvSpPr txBox="1"/>
          <p:nvPr/>
        </p:nvSpPr>
        <p:spPr>
          <a:xfrm>
            <a:off x="365760" y="109728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Key equation:</a:t>
            </a:r>
            <a:endParaRPr/>
          </a:p>
        </p:txBody>
      </p:sp>
      <p:sp>
        <p:nvSpPr>
          <p:cNvPr id="68" name="Google Shape;68;p15"/>
          <p:cNvSpPr txBox="1"/>
          <p:nvPr/>
        </p:nvSpPr>
        <p:spPr>
          <a:xfrm>
            <a:off x="3200400" y="100584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5"/>
          <p:cNvSpPr txBox="1"/>
          <p:nvPr/>
        </p:nvSpPr>
        <p:spPr>
          <a:xfrm>
            <a:off x="548640" y="1554480"/>
            <a:ext cx="8046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where α(d) = max alignment of d with any feature</a:t>
            </a:r>
            <a:endParaRPr/>
          </a:p>
        </p:txBody>
      </p:sp>
      <p:sp>
        <p:nvSpPr>
          <p:cNvPr id="70" name="Google Shape;70;p15"/>
          <p:cNvSpPr txBox="1"/>
          <p:nvPr/>
        </p:nvSpPr>
        <p:spPr>
          <a:xfrm>
            <a:off x="365760" y="20116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Three predictions:</a:t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548640" y="237744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1. Single feature:</a:t>
            </a:r>
            <a:endParaRPr/>
          </a:p>
        </p:txBody>
      </p:sp>
      <p:sp>
        <p:nvSpPr>
          <p:cNvPr id="72" name="Google Shape;72;p15"/>
          <p:cNvSpPr txBox="1"/>
          <p:nvPr/>
        </p:nvSpPr>
        <p:spPr>
          <a:xfrm>
            <a:off x="3657600" y="233172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548640" y="283464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2. Random in k-dim subspace:</a:t>
            </a:r>
            <a:endParaRPr/>
          </a:p>
        </p:txBody>
      </p:sp>
      <p:sp>
        <p:nvSpPr>
          <p:cNvPr id="74" name="Google Shape;74;p15"/>
          <p:cNvSpPr txBox="1"/>
          <p:nvPr/>
        </p:nvSpPr>
        <p:spPr>
          <a:xfrm>
            <a:off x="731520" y="3154680"/>
            <a:ext cx="6400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5"/>
          <p:cNvSpPr txBox="1"/>
          <p:nvPr/>
        </p:nvSpPr>
        <p:spPr>
          <a:xfrm>
            <a:off x="548640" y="3657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3. Fully random:</a:t>
            </a:r>
            <a:endParaRPr/>
          </a:p>
        </p:txBody>
      </p:sp>
      <p:sp>
        <p:nvSpPr>
          <p:cNvPr id="76" name="Google Shape;76;p15"/>
          <p:cNvSpPr txBox="1"/>
          <p:nvPr/>
        </p:nvSpPr>
        <p:spPr>
          <a:xfrm>
            <a:off x="731520" y="3977639"/>
            <a:ext cx="6400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365760" y="4480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Details in the shared write-up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sz="2800">
                <a:solidFill>
                  <a:srgbClr val="000000"/>
                </a:solidFill>
              </a:rPr>
              <a:t>ChessGPT: three-regime validation</a:t>
            </a:r>
            <a:endParaRPr/>
          </a:p>
        </p:txBody>
      </p:sp>
      <p:pic>
        <p:nvPicPr>
          <p:cNvPr descr="subspace_vs_random.png" id="83" name="Google Shape;8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097280"/>
            <a:ext cx="4572000" cy="271424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/>
          <p:cNvSpPr txBox="1"/>
          <p:nvPr/>
        </p:nvSpPr>
        <p:spPr>
          <a:xfrm>
            <a:off x="5029200" y="1188720"/>
            <a:ext cx="3749039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Observed vs predicted: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Features: </a:t>
            </a:r>
            <a:r>
              <a:rPr b="0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~5.5°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Subspace random: </a:t>
            </a:r>
            <a:r>
              <a:rPr b="0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~12.5° (pred: 11°)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Fully random: </a:t>
            </a:r>
            <a:r>
              <a:rPr b="0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~36.3° (pred: 36°, m≈1000)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sz="2800">
                <a:solidFill>
                  <a:srgbClr val="000000"/>
                </a:solidFill>
              </a:rPr>
              <a:t>Subspace scaling — 25 features</a:t>
            </a:r>
            <a:endParaRPr/>
          </a:p>
        </p:txBody>
      </p:sp>
      <p:pic>
        <p:nvPicPr>
          <p:cNvPr descr="subspace_scaling.png" id="90" name="Google Shape;9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097280"/>
            <a:ext cx="4572000" cy="3235365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7"/>
          <p:cNvSpPr txBox="1"/>
          <p:nvPr/>
        </p:nvSpPr>
        <p:spPr>
          <a:xfrm>
            <a:off x="5029200" y="1188720"/>
            <a:ext cx="3749039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Directionally correct, underpredicts by 20–30%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300" u="none" cap="none" strike="noStrik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GB" sz="1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Two confounders: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GB" sz="1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   1. Dirty features (rotated from true features)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GB" sz="1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   2. Variable θ₁ per feature (model assumes uniform)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sz="2800">
                <a:solidFill>
                  <a:srgbClr val="000000"/>
                </a:solidFill>
              </a:rPr>
              <a:t>Feature refinement + progressive discovery</a:t>
            </a:r>
            <a:endParaRPr/>
          </a:p>
        </p:txBody>
      </p:sp>
      <p:pic>
        <p:nvPicPr>
          <p:cNvPr descr="refine_all_features.png" id="97" name="Google Shape;9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2880" y="1097280"/>
            <a:ext cx="4023360" cy="164766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ogressive_discovery.png" id="98" name="Google Shape;98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89120" y="1097280"/>
            <a:ext cx="4297680" cy="1507488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8"/>
          <p:cNvSpPr txBox="1"/>
          <p:nvPr/>
        </p:nvSpPr>
        <p:spPr>
          <a:xfrm>
            <a:off x="182880" y="4023360"/>
            <a:ext cx="40233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Local optimization cleans features. θ₁ range: 2.2–5.5°</a:t>
            </a:r>
            <a:endParaRPr/>
          </a:p>
        </p:txBody>
      </p:sp>
      <p:sp>
        <p:nvSpPr>
          <p:cNvPr id="100" name="Google Shape;100;p18"/>
          <p:cNvSpPr txBox="1"/>
          <p:nvPr/>
        </p:nvSpPr>
        <p:spPr>
          <a:xfrm>
            <a:off x="4389120" y="4023360"/>
            <a:ext cx="4297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Progressive MELBO: ~140 features in 512-d space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sz="2800">
                <a:solidFill>
                  <a:srgbClr val="000000"/>
                </a:solidFill>
              </a:rPr>
              <a:t>Subspace scaling — 135 features, variable thresholds</a:t>
            </a:r>
            <a:endParaRPr/>
          </a:p>
        </p:txBody>
      </p:sp>
      <p:pic>
        <p:nvPicPr>
          <p:cNvPr descr="subspace_pred_scaling_cd0.1_simple.png" id="106" name="Google Shape;10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097280"/>
            <a:ext cx="4572000" cy="323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9"/>
          <p:cNvSpPr txBox="1"/>
          <p:nvPr/>
        </p:nvSpPr>
        <p:spPr>
          <a:xfrm>
            <a:off x="5029200" y="1188720"/>
            <a:ext cx="3749039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Predicted trend increases, empirical is flat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Error bars overlap but trends disagree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Current status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sz="2800">
                <a:solidFill>
                  <a:srgbClr val="000000"/>
                </a:solidFill>
              </a:rPr>
              <a:t>Feature reconstruction</a:t>
            </a:r>
            <a:endParaRPr/>
          </a:p>
        </p:txBody>
      </p:sp>
      <p:pic>
        <p:nvPicPr>
          <p:cNvPr descr="reconstruction.png" id="113" name="Google Shape;11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097280"/>
            <a:ext cx="4389120" cy="1436189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0"/>
          <p:cNvSpPr txBox="1"/>
          <p:nvPr/>
        </p:nvSpPr>
        <p:spPr>
          <a:xfrm>
            <a:off x="4846320" y="1188720"/>
            <a:ext cx="3657600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62 directions explain 93.4% variance. Top 3 explain 83%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300" u="none" cap="none" strike="noStrik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GB" sz="1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Most residual plateau-breaking angles close to random baseline, but some outliers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300" u="none" cap="none" strike="noStrik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GB" sz="1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Outliers suggest we can extract more features from residuals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300" u="none" cap="none" strike="noStrik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GB" sz="1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d₁ correlates r &gt; 0.96 with move count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sz="2800">
                <a:solidFill>
                  <a:srgbClr val="000000"/>
                </a:solidFill>
              </a:rPr>
              <a:t>Discussion / next steps</a:t>
            </a:r>
            <a:endParaRPr/>
          </a:p>
        </p:txBody>
      </p:sp>
      <p:sp>
        <p:nvSpPr>
          <p:cNvPr id="120" name="Google Shape;120;p21"/>
          <p:cNvSpPr txBox="1"/>
          <p:nvPr/>
        </p:nvSpPr>
        <p:spPr>
          <a:xfrm>
            <a:off x="365760" y="1097280"/>
            <a:ext cx="822960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Reference research directions document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GB" sz="1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What's prioritized, what's open for discussion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sz="2800">
                <a:solidFill>
                  <a:srgbClr val="000000"/>
                </a:solidFill>
              </a:rPr>
              <a:t>Plateau-ness degrades away from real activations</a:t>
            </a:r>
            <a:endParaRPr/>
          </a:p>
        </p:txBody>
      </p:sp>
      <p:pic>
        <p:nvPicPr>
          <p:cNvPr descr="plateau_width_vs_steering.png" id="126" name="Google Shape;12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097280"/>
            <a:ext cx="3840480" cy="106003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kl_curves_by_steering.png" id="127" name="Google Shape;127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89120" y="1097280"/>
            <a:ext cx="4297680" cy="142358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22"/>
          <p:cNvSpPr txBox="1"/>
          <p:nvPr/>
        </p:nvSpPr>
        <p:spPr>
          <a:xfrm>
            <a:off x="274320" y="4114800"/>
            <a:ext cx="8503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Steer at increasing magnitudes, measure plateau width → plateau shrinks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sz="2800">
                <a:solidFill>
                  <a:srgbClr val="000000"/>
                </a:solidFill>
              </a:rPr>
              <a:t>Cross-group feature composition</a:t>
            </a:r>
            <a:endParaRPr/>
          </a:p>
        </p:txBody>
      </p:sp>
      <p:pic>
        <p:nvPicPr>
          <p:cNvPr descr="crossgroup_composition_figure.png" id="134" name="Google Shape;13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097280"/>
            <a:ext cx="3840480" cy="343312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eature_vs_random_sweep_clean.png" id="135" name="Google Shape;135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89120" y="1097280"/>
            <a:ext cx="4297680" cy="1901135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3"/>
          <p:cNvSpPr txBox="1"/>
          <p:nvPr/>
        </p:nvSpPr>
        <p:spPr>
          <a:xfrm>
            <a:off x="274320" y="4114800"/>
            <a:ext cx="8503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Russian + C = Russian C. Scaling monotonic but weak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Methodological note: must include dominant language in multi-contrastive set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sz="2800">
                <a:solidFill>
                  <a:srgbClr val="000000"/>
                </a:solidFill>
              </a:rPr>
              <a:t>Jacobian Optimizations</a:t>
            </a:r>
            <a:endParaRPr/>
          </a:p>
        </p:txBody>
      </p:sp>
      <p:sp>
        <p:nvSpPr>
          <p:cNvPr id="142" name="Google Shape;142;p24"/>
          <p:cNvSpPr txBox="1"/>
          <p:nvPr/>
        </p:nvSpPr>
        <p:spPr>
          <a:xfrm>
            <a:off x="274320" y="1097280"/>
            <a:ext cx="438912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Approach: </a:t>
            </a:r>
            <a:r>
              <a:rPr b="0" i="0" lang="en-GB" sz="1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optimize for directions that minimize Jacobian norm of resulting activations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Result: found directions producing real-ish activations with plateaus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GB" sz="1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But: </a:t>
            </a:r>
            <a:r>
              <a:rPr b="0" i="0" lang="en-GB" sz="1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perturbation plots along these directions look random (right)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Steering: minimal changes, then model breaks down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GB" sz="1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• Conclusion: </a:t>
            </a:r>
            <a:r>
              <a:rPr b="0" i="0" lang="en-GB" sz="1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optimizers can find directions producing similar activations that aren't features</a:t>
            </a:r>
            <a:endParaRPr/>
          </a:p>
        </p:txBody>
      </p:sp>
      <p:pic>
        <p:nvPicPr>
          <p:cNvPr descr="perturbation_v1.png" id="143" name="Google Shape;143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46320" y="1097280"/>
            <a:ext cx="3840480" cy="1593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Meeting 19/02/2026 - Contents</a:t>
            </a:r>
            <a:endParaRPr/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62500" y="1049700"/>
            <a:ext cx="79434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en-GB" sz="1500"/>
              <a:t>Last time:</a:t>
            </a:r>
            <a:r>
              <a:rPr lang="en-GB" sz="1500"/>
              <a:t> Feature directions (PC1/MELBO₁) break plateaus while the nearly-identical mean direction does not</a:t>
            </a:r>
            <a:endParaRPr sz="15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b="1" lang="en-GB" sz="1500"/>
              <a:t>Today:</a:t>
            </a:r>
            <a:r>
              <a:rPr lang="en-GB" sz="1500"/>
              <a:t> Things I've done that I'd like to cover: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00"/>
              <a:buAutoNum type="arabicPeriod"/>
            </a:pPr>
            <a:r>
              <a:rPr lang="en-GB" sz="1500"/>
              <a:t>Solution to the above puzzle</a:t>
            </a:r>
            <a:endParaRPr sz="1500"/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lang="en-GB" sz="1500"/>
              <a:t>Not so exciting; I was steering the mean in the wrong direction lol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-GB" sz="1500"/>
              <a:t>Steering lines up nicely with perturbation sweep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-GB" sz="1500"/>
              <a:t>Multi-contrastive steering: can we estimate feature vector rather than difference-of-means?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-GB" sz="1500"/>
              <a:t>Adapted MELBO: selecting for feature-like response profiles</a:t>
            </a:r>
            <a:endParaRPr sz="15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Steering and Perturbation Line Up</a:t>
            </a:r>
            <a:endParaRPr/>
          </a:p>
        </p:txBody>
      </p:sp>
      <p:pic>
        <p:nvPicPr>
          <p:cNvPr id="155" name="Google Shape;155;p26" title="kl_vs_cjk_v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6475" y="1175825"/>
            <a:ext cx="4270502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6"/>
          <p:cNvSpPr txBox="1"/>
          <p:nvPr/>
        </p:nvSpPr>
        <p:spPr>
          <a:xfrm>
            <a:off x="4980800" y="1929525"/>
            <a:ext cx="3713400" cy="21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Top: perturbation sweep KL-div (sorry)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Bottom: steering effectiveness as fraction of CJK characters starting from English prompt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Component of MELBO_1 that's orthogonal to mean also steers, but in a different regime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Component of mean orthogonal to MELBO_1 does nothing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Multi-contrastive steering/feature isolation</a:t>
            </a:r>
            <a:endParaRPr/>
          </a:p>
        </p:txBody>
      </p:sp>
      <p:sp>
        <p:nvSpPr>
          <p:cNvPr id="162" name="Google Shape;162;p27"/>
          <p:cNvSpPr txBox="1"/>
          <p:nvPr/>
        </p:nvSpPr>
        <p:spPr>
          <a:xfrm>
            <a:off x="362375" y="1111300"/>
            <a:ext cx="8141400" cy="34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Diff-of-means gives you vector between two concepts, not the concepts' vectors d_EM = mean(EN) - mean(ZH) \approx f_EN - f_ZH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Idea: If we contrast English against many languages, the English component is shared across all differences while the other languages point in other directions and cancel out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Stack them, SVD -&gt; Isolate f_EN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Validation: convergence</a:t>
            </a:r>
            <a:endParaRPr/>
          </a:p>
        </p:txBody>
      </p:sp>
      <p:sp>
        <p:nvSpPr>
          <p:cNvPr id="168" name="Google Shape;168;p28"/>
          <p:cNvSpPr txBox="1"/>
          <p:nvPr/>
        </p:nvSpPr>
        <p:spPr>
          <a:xfrm>
            <a:off x="362375" y="1017725"/>
            <a:ext cx="8401200" cy="7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Predict convergence as 1/sqrt(k); effectively independent measurements if features orthogonal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9" name="Google Shape;169;p28" title="scaling_curv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2375" y="1787824"/>
            <a:ext cx="7734426" cy="2851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Validation: generalizes to held-out language</a:t>
            </a:r>
            <a:endParaRPr/>
          </a:p>
        </p:txBody>
      </p:sp>
      <p:pic>
        <p:nvPicPr>
          <p:cNvPr id="175" name="Google Shape;175;p29" title="arabic_coherenc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4775" y="1103700"/>
            <a:ext cx="5765376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9"/>
          <p:cNvSpPr txBox="1"/>
          <p:nvPr/>
        </p:nvSpPr>
        <p:spPr>
          <a:xfrm>
            <a:off x="6280150" y="1920800"/>
            <a:ext cx="2796600" cy="3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Arabic not in k=10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Perplexity as proxy for coherence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Different alphabet -&gt; easy to measure steering effect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Better than diff-of-means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Claim: We have English direction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Perturbation sweeps look… smoother?</a:t>
            </a:r>
            <a:endParaRPr/>
          </a:p>
        </p:txBody>
      </p:sp>
      <p:sp>
        <p:nvSpPr>
          <p:cNvPr id="182" name="Google Shape;182;p30"/>
          <p:cNvSpPr txBox="1"/>
          <p:nvPr/>
        </p:nvSpPr>
        <p:spPr>
          <a:xfrm>
            <a:off x="6806675" y="1413275"/>
            <a:ext cx="2265000" cy="25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GB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Pretty linear for quite a range after plateau</a:t>
            </a:r>
            <a:endParaRPr b="0" i="0" sz="17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GB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Do we want to optimize for this profile?</a:t>
            </a:r>
            <a:endParaRPr b="0" i="0" sz="17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GB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Note: much less notable in L2?</a:t>
            </a:r>
            <a:endParaRPr b="0" i="0" sz="17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3" name="Google Shape;183;p30" title="plateau_breaking_sweeps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100" y="1824175"/>
            <a:ext cx="6501878" cy="2311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MELBO on diverse dataset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Top: max kl-div; Bottom: profile-matched kl-div</a:t>
            </a:r>
            <a:endParaRPr/>
          </a:p>
        </p:txBody>
      </p:sp>
      <p:pic>
        <p:nvPicPr>
          <p:cNvPr id="189" name="Google Shape;189;p31" title="sweep_all_zoome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600" y="3091050"/>
            <a:ext cx="5258752" cy="2223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31" title="sweep_all_zoomed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2938" y="1337775"/>
            <a:ext cx="3866977" cy="16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31"/>
          <p:cNvSpPr txBox="1"/>
          <p:nvPr/>
        </p:nvSpPr>
        <p:spPr>
          <a:xfrm>
            <a:off x="4646200" y="1653363"/>
            <a:ext cx="44619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Problem:</a:t>
            </a: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MELBO directions break the model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Idea:</a:t>
            </a: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Instead of direction of max perturbation, find direction that breaks off to ~1 KL-div around ~15 degrees (these are hyperparameters)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1"/>
          <p:cNvSpPr txBox="1"/>
          <p:nvPr/>
        </p:nvSpPr>
        <p:spPr>
          <a:xfrm>
            <a:off x="5760025" y="3102650"/>
            <a:ext cx="30000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Quite a few interpretable! Steered with top ~10 and found: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AutoNum type="arabicPeriod"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numbers/math-y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AutoNum type="arabicPeriod"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Verbosity?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AutoNum type="arabicPeriod"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Economics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AutoNum type="arabicPeriod"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Academic Publication?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Auto-interp as per Anthropic</a:t>
            </a:r>
            <a:endParaRPr/>
          </a:p>
        </p:txBody>
      </p:sp>
      <p:sp>
        <p:nvSpPr>
          <p:cNvPr id="198" name="Google Shape;198;p3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rPr lang="en-GB"/>
              <a:t>Correlate LLM-explainer with LLM-simulator of top-prompts activating directions</a:t>
            </a:r>
            <a:endParaRPr/>
          </a:p>
        </p:txBody>
      </p:sp>
      <p:pic>
        <p:nvPicPr>
          <p:cNvPr id="199" name="Google Shape;199;p32" title="correlation_histogr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95" y="1765300"/>
            <a:ext cx="4628999" cy="285795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2"/>
          <p:cNvSpPr txBox="1"/>
          <p:nvPr/>
        </p:nvSpPr>
        <p:spPr>
          <a:xfrm>
            <a:off x="5568950" y="2178050"/>
            <a:ext cx="3124200" cy="319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Manual check on top few looks decent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Smaller numbers than Anthropic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Probably too little context: 5 tokens vs 128 their experiment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Questions/Directions</a:t>
            </a:r>
            <a:endParaRPr/>
          </a:p>
        </p:txBody>
      </p:sp>
      <p:sp>
        <p:nvSpPr>
          <p:cNvPr id="206" name="Google Shape;206;p3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/>
              <a:t>How to do interpretability at scale? Steering and looking at results isn't fun for 100 directions… Delegate to LLM? Something else?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/>
              <a:t>Tried to generalize multi-contrastive steering to animals but did not work :-)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/>
              <a:t>MELBO constrained to span of differences of animals/active dataset dogs also did not work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/>
              <a:t>Is this direction interesting? Or should we stick to unconstrained, since we can apparently find features?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/>
              <a:t>Keen on the 'geometry of plateau' direction? Feature radius vs random radius, I mean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Meeting 12/02/2026 - Summary</a:t>
            </a:r>
            <a:endParaRPr/>
          </a:p>
        </p:txBody>
      </p:sp>
      <p:sp>
        <p:nvSpPr>
          <p:cNvPr id="212" name="Google Shape;212;p34"/>
          <p:cNvSpPr txBox="1"/>
          <p:nvPr>
            <p:ph idx="1" type="body"/>
          </p:nvPr>
        </p:nvSpPr>
        <p:spPr>
          <a:xfrm>
            <a:off x="5797250" y="1152475"/>
            <a:ext cx="30351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en-GB" sz="1200"/>
              <a:t>Last time:</a:t>
            </a:r>
            <a:r>
              <a:rPr lang="en-GB" sz="1200"/>
              <a:t> We can optimize for vector taking us from set of real activations to set of activations with small Jacobian norm!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b="1" lang="en-GB" sz="1200"/>
              <a:t>Up next:</a:t>
            </a:r>
            <a:r>
              <a:rPr lang="en-GB" sz="1200"/>
              <a:t> A few threads proposed:</a:t>
            </a: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AutoNum type="arabicPeriod"/>
            </a:pPr>
            <a:r>
              <a:rPr lang="en-GB" sz="1200"/>
              <a:t>Do shifted activations have plateaus?</a:t>
            </a: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-GB" sz="1200"/>
              <a:t>Find steering vector that 'works'. Do resulting activations have plateaus? Follow-up: can we optimize them/the steering vector so that they do?</a:t>
            </a: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-GB" sz="1200"/>
              <a:t>How does steering compare plateau-wise to perturbing along random direction?</a:t>
            </a:r>
            <a:endParaRPr sz="1200"/>
          </a:p>
        </p:txBody>
      </p:sp>
      <p:pic>
        <p:nvPicPr>
          <p:cNvPr id="213" name="Google Shape;213;p34" title="eval_r6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7075" y="1511300"/>
            <a:ext cx="5156774" cy="254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Do shifted activations have plateaus?</a:t>
            </a:r>
            <a:endParaRPr/>
          </a:p>
        </p:txBody>
      </p:sp>
      <p:sp>
        <p:nvSpPr>
          <p:cNvPr id="219" name="Google Shape;219;p35"/>
          <p:cNvSpPr txBox="1"/>
          <p:nvPr/>
        </p:nvSpPr>
        <p:spPr>
          <a:xfrm>
            <a:off x="406400" y="1128000"/>
            <a:ext cx="6889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Yes! But smaller than real activations. Matching Jacobian norm not enough; minimizing it is better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0" name="Google Shape;220;p35" title="gpt2-large_4way_median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8950" y="1669350"/>
            <a:ext cx="7328430" cy="3245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6"/>
          <p:cNvSpPr txBox="1"/>
          <p:nvPr>
            <p:ph type="title"/>
          </p:nvPr>
        </p:nvSpPr>
        <p:spPr>
          <a:xfrm>
            <a:off x="311700" y="165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Intermezzo: switched to Qwen3 0.6B</a:t>
            </a:r>
            <a:endParaRPr/>
          </a:p>
        </p:txBody>
      </p:sp>
      <p:sp>
        <p:nvSpPr>
          <p:cNvPr id="226" name="Google Shape;226;p36"/>
          <p:cNvSpPr txBox="1"/>
          <p:nvPr/>
        </p:nvSpPr>
        <p:spPr>
          <a:xfrm>
            <a:off x="368300" y="696200"/>
            <a:ext cx="8520600" cy="7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Sanity check: Does it exhibit plateaus?</a:t>
            </a:r>
            <a:endParaRPr b="0" i="0" sz="12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Aside: Previous mentees of Stefan found no plateaus in Gemma (https://arxiv.org/abs/2409.17113). What's up with that?</a:t>
            </a:r>
            <a:endParaRPr b="0" i="0" sz="12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7" name="Google Shape;227;p36" title="sweep_median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9563" y="1497300"/>
            <a:ext cx="7544863" cy="33414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/>
          <p:nvPr>
            <p:ph type="title"/>
          </p:nvPr>
        </p:nvSpPr>
        <p:spPr>
          <a:xfrm>
            <a:off x="311700" y="165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How does steering compare plateau-wise to perturbing along random direction?</a:t>
            </a:r>
            <a:endParaRPr/>
          </a:p>
        </p:txBody>
      </p:sp>
      <p:pic>
        <p:nvPicPr>
          <p:cNvPr id="233" name="Google Shape;233;p37" title="steering_vs_random_median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68400" y="2154375"/>
            <a:ext cx="6299203" cy="284510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37"/>
          <p:cNvSpPr txBox="1"/>
          <p:nvPr/>
        </p:nvSpPr>
        <p:spPr>
          <a:xfrm>
            <a:off x="336600" y="965200"/>
            <a:ext cx="8470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Steering direction: difference-of-means English, Mandarin prompts (generated by Claude, I don't speak Mandarin)</a:t>
            </a:r>
            <a:endParaRPr b="0" i="0" sz="12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Perturb along steering direction; measure impact on later layer… Looks just like random??</a:t>
            </a:r>
            <a:endParaRPr b="0" i="0" sz="12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Hypothesis: steering vector is not clean feature, but superposition of many features -&gt; random-like</a:t>
            </a:r>
            <a:endParaRPr b="0" i="0" sz="12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Potential confounder: perturbing at layer 2, extracted vector at layer 14 (but holds also with both at layer 14; see later slide)</a:t>
            </a:r>
            <a:endParaRPr b="0" i="0" sz="12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8"/>
          <p:cNvSpPr txBox="1"/>
          <p:nvPr>
            <p:ph type="title"/>
          </p:nvPr>
        </p:nvSpPr>
        <p:spPr>
          <a:xfrm>
            <a:off x="311700" y="165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Can we decompose the matrix of differences?</a:t>
            </a:r>
            <a:endParaRPr/>
          </a:p>
        </p:txBody>
      </p:sp>
      <p:sp>
        <p:nvSpPr>
          <p:cNvPr id="240" name="Google Shape;240;p38"/>
          <p:cNvSpPr txBox="1"/>
          <p:nvPr/>
        </p:nvSpPr>
        <p:spPr>
          <a:xfrm>
            <a:off x="584250" y="863600"/>
            <a:ext cx="8470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Performed SVD on the matrix of differences at each layer (so stacked vectors of activation differences), checked how much variance is explained by PCs</a:t>
            </a:r>
            <a:endParaRPr b="0" i="0" sz="12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1" name="Google Shape;241;p38" title="summary_across_layers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7350" y="1504988"/>
            <a:ext cx="8197852" cy="2133524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8"/>
          <p:cNvSpPr txBox="1"/>
          <p:nvPr/>
        </p:nvSpPr>
        <p:spPr>
          <a:xfrm>
            <a:off x="584250" y="3663950"/>
            <a:ext cx="75057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Dips in mid layers appear to be due to token-length mismatches in some contrastive pairs; removing outliers gets rid of them</a:t>
            </a:r>
            <a:endParaRPr b="0" i="0" sz="12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At most layers, PC1 extremely aligned with mean; but vector is multidimensional: top PC explains only ~30% of variance</a:t>
            </a:r>
            <a:endParaRPr b="0" i="0" sz="12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Can we optimize the decomposition of the language steering vector?</a:t>
            </a:r>
            <a:endParaRPr/>
          </a:p>
        </p:txBody>
      </p:sp>
      <p:sp>
        <p:nvSpPr>
          <p:cNvPr id="248" name="Google Shape;248;p39"/>
          <p:cNvSpPr txBox="1"/>
          <p:nvPr>
            <p:ph idx="1" type="body"/>
          </p:nvPr>
        </p:nvSpPr>
        <p:spPr>
          <a:xfrm>
            <a:off x="349800" y="13747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Goal: Find the direction *within the span of the difference matrix D* that maximizes KL divergence when used as a spherical perturbation.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-GB"/>
              <a:t>Why? This asks: "which component of the language steering vector causes the most behavioral change?"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-GB"/>
              <a:t>Note that this is kind of like constrained MELBO.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-GB"/>
              <a:t>Fix magnitude of perturbation at 15 angles: guess; still in plateau for random direction, but perhaps not for feature direction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We can, and it breaks the plateau! </a:t>
            </a:r>
            <a:endParaRPr/>
          </a:p>
        </p:txBody>
      </p:sp>
      <p:pic>
        <p:nvPicPr>
          <p:cNvPr id="254" name="Google Shape;254;p40" title="sweep_comparison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750" y="954225"/>
            <a:ext cx="7842248" cy="333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40"/>
          <p:cNvSpPr txBox="1"/>
          <p:nvPr/>
        </p:nvSpPr>
        <p:spPr>
          <a:xfrm>
            <a:off x="660400" y="4476750"/>
            <a:ext cx="7531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So does PC1 - very similar behavior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1"/>
          <p:cNvSpPr txBox="1"/>
          <p:nvPr>
            <p:ph type="title"/>
          </p:nvPr>
        </p:nvSpPr>
        <p:spPr>
          <a:xfrm>
            <a:off x="311700" y="3815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Is activation space super spiky?</a:t>
            </a:r>
            <a:endParaRPr/>
          </a:p>
        </p:txBody>
      </p:sp>
      <p:sp>
        <p:nvSpPr>
          <p:cNvPr id="261" name="Google Shape;261;p41"/>
          <p:cNvSpPr txBox="1"/>
          <p:nvPr/>
        </p:nvSpPr>
        <p:spPr>
          <a:xfrm>
            <a:off x="488950" y="4197350"/>
            <a:ext cx="7531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At layer 14, PC1 and mean have ~0.98 cosine similarity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</a:pPr>
            <a:r>
              <a:rPr b="0" i="0" lang="en-GB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Yet, perturbing along mean looks random, perturbing along PC1 looks like feature!!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2" name="Google Shape;26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8950" y="954225"/>
            <a:ext cx="3659820" cy="3154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43449" y="1017725"/>
            <a:ext cx="3901600" cy="2881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2"/>
          <p:cNvSpPr txBox="1"/>
          <p:nvPr>
            <p:ph type="title"/>
          </p:nvPr>
        </p:nvSpPr>
        <p:spPr>
          <a:xfrm>
            <a:off x="311700" y="3815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Steering behavior of PC1, MELBO_1, Mean</a:t>
            </a:r>
            <a:endParaRPr/>
          </a:p>
        </p:txBody>
      </p:sp>
      <p:sp>
        <p:nvSpPr>
          <p:cNvPr id="269" name="Google Shape;269;p42"/>
          <p:cNvSpPr txBox="1"/>
          <p:nvPr/>
        </p:nvSpPr>
        <p:spPr>
          <a:xfrm>
            <a:off x="558800" y="1149350"/>
            <a:ext cx="85851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Surprisingly, not that different?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Steering along these directions produces the expected change - model switches between English and Mandarin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slightly easier (less magnitude required) with MELBO_1, but not a big difference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Preliminary and qualitative; needs more work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Strikes me as unexpected? I would expect steering along the mean direction to require much more magnitude to work?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Is activation space super spiky? People think so!</a:t>
            </a:r>
            <a:endParaRPr/>
          </a:p>
        </p:txBody>
      </p:sp>
      <p:pic>
        <p:nvPicPr>
          <p:cNvPr id="275" name="Google Shape;275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1850" y="2023850"/>
            <a:ext cx="7131049" cy="2960900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43"/>
          <p:cNvSpPr txBox="1"/>
          <p:nvPr/>
        </p:nvSpPr>
        <p:spPr>
          <a:xfrm>
            <a:off x="387350" y="1054100"/>
            <a:ext cx="8401200" cy="73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Stolen from Stefan's LessWrong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These results support this picture, I think? And that PC1/MELBO_1 is a feature? 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4"/>
          <p:cNvSpPr txBox="1"/>
          <p:nvPr>
            <p:ph type="title"/>
          </p:nvPr>
        </p:nvSpPr>
        <p:spPr>
          <a:xfrm>
            <a:off x="343450" y="3053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Short aside: similar behavior with different languages</a:t>
            </a:r>
            <a:endParaRPr/>
          </a:p>
        </p:txBody>
      </p:sp>
      <p:pic>
        <p:nvPicPr>
          <p:cNvPr id="282" name="Google Shape;282;p44" title="dutch_vs_chinese_comparison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3775" y="1462225"/>
            <a:ext cx="6635749" cy="2864075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44"/>
          <p:cNvSpPr txBox="1"/>
          <p:nvPr/>
        </p:nvSpPr>
        <p:spPr>
          <a:xfrm>
            <a:off x="622300" y="844550"/>
            <a:ext cx="7175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 was worried that steering looking random had to do with English and Mandarin being very different -&gt; hence try closer languages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44"/>
          <p:cNvSpPr txBox="1"/>
          <p:nvPr/>
        </p:nvSpPr>
        <p:spPr>
          <a:xfrm>
            <a:off x="968400" y="4326300"/>
            <a:ext cx="72072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Looks similar? Dutch does respond 'more' but idk this is not an in-depth investigation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Questions and directions</a:t>
            </a:r>
            <a:endParaRPr/>
          </a:p>
        </p:txBody>
      </p:sp>
      <p:sp>
        <p:nvSpPr>
          <p:cNvPr id="290" name="Google Shape;290;p45"/>
          <p:cNvSpPr txBox="1"/>
          <p:nvPr/>
        </p:nvSpPr>
        <p:spPr>
          <a:xfrm>
            <a:off x="406400" y="1117600"/>
            <a:ext cx="7969200" cy="3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Steering is autoregressive: activations change at each step, so the exact feature direction shifts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Hypothesis: Fixed directions (MELBO_1, PC1, mean) all point roughly right, so they average out and steer similarly despite very different single-shot perturbation behavior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Testable: does MELBO_1 still break the plateau on held-out activations? If yes, it's a globally special direction. If no, the single-shot result reflects activation-specific alignment, not a cleaner feature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If not globally special, testable prediction: for same 'steering magnitude budget', many small pushes (e.g., steer at every token generation) work better than few big pushes (e.g., steer 5x as strong every 5th token)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Quick test: steer with activation shift vector (first slide); does it do something interpretable?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Meeting 10/02/2026 - Summary</a:t>
            </a:r>
            <a:endParaRPr/>
          </a:p>
        </p:txBody>
      </p:sp>
      <p:sp>
        <p:nvSpPr>
          <p:cNvPr id="296" name="Google Shape;296;p46"/>
          <p:cNvSpPr txBox="1"/>
          <p:nvPr>
            <p:ph idx="1" type="body"/>
          </p:nvPr>
        </p:nvSpPr>
        <p:spPr>
          <a:xfrm>
            <a:off x="5797250" y="1152475"/>
            <a:ext cx="30351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en-GB" sz="1200"/>
              <a:t>Last time:</a:t>
            </a:r>
            <a:r>
              <a:rPr lang="en-GB" sz="1200"/>
              <a:t> Matching first two moments of Gaussian does not result in real-like activations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b="1" lang="en-GB" sz="1200"/>
              <a:t>Up next:</a:t>
            </a:r>
            <a:r>
              <a:rPr lang="en-GB" sz="1200"/>
              <a:t> Can we optimize for vector that takes us from set of real activations to set of real-like activations, as measured by Jacobian norm distribution? </a:t>
            </a:r>
            <a:endParaRPr sz="1200"/>
          </a:p>
        </p:txBody>
      </p:sp>
      <p:pic>
        <p:nvPicPr>
          <p:cNvPr id="297" name="Google Shape;297;p46" title="frobenius_norm_v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6775" y="1639574"/>
            <a:ext cx="5459873" cy="268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Yes! With a caveat…</a:t>
            </a:r>
            <a:endParaRPr/>
          </a:p>
        </p:txBody>
      </p:sp>
      <p:sp>
        <p:nvSpPr>
          <p:cNvPr id="303" name="Google Shape;303;p47"/>
          <p:cNvSpPr txBox="1"/>
          <p:nvPr>
            <p:ph idx="1" type="body"/>
          </p:nvPr>
        </p:nvSpPr>
        <p:spPr>
          <a:xfrm>
            <a:off x="5797250" y="1152475"/>
            <a:ext cx="30351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en-GB" sz="1200"/>
              <a:t>Method: </a:t>
            </a:r>
            <a:endParaRPr b="1" sz="1200"/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-GB" sz="1200"/>
              <a:t>Minimizing Jacobian of last layer activations w.r.t. Layer 6 activations, last-token only</a:t>
            </a: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sz="1200"/>
              <a:t>Fix magnitude to mean inter-activation magnitude; optimize direction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-GB" sz="1200"/>
              <a:t>Spot the mistake? :-) Wrong optimization target: we want real-like, _not_ smallest Jacobian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en-GB" sz="1200"/>
              <a:t>Std 34 -&gt; 7</a:t>
            </a:r>
            <a:endParaRPr sz="1200"/>
          </a:p>
        </p:txBody>
      </p:sp>
      <p:pic>
        <p:nvPicPr>
          <p:cNvPr id="304" name="Google Shape;304;p47" title="training_r6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215675"/>
            <a:ext cx="5323699" cy="133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47" title="eval_r66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6325" y="2571750"/>
            <a:ext cx="4653182" cy="2292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Does the resulting vector mean anything?</a:t>
            </a:r>
            <a:endParaRPr/>
          </a:p>
        </p:txBody>
      </p:sp>
      <p:sp>
        <p:nvSpPr>
          <p:cNvPr id="311" name="Google Shape;311;p48"/>
          <p:cNvSpPr txBox="1"/>
          <p:nvPr/>
        </p:nvSpPr>
        <p:spPr>
          <a:xfrm>
            <a:off x="311700" y="1076625"/>
            <a:ext cx="8375100" cy="38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I'm not sure, but I don't think so. Are these even the right metrics? (This is over 100 real activations)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2" name="Google Shape;312;p48" title="projection_analysis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075" y="2009350"/>
            <a:ext cx="8520598" cy="27749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Does the resulting vector mean anything?</a:t>
            </a:r>
            <a:endParaRPr/>
          </a:p>
        </p:txBody>
      </p:sp>
      <p:sp>
        <p:nvSpPr>
          <p:cNvPr id="318" name="Google Shape;318;p49"/>
          <p:cNvSpPr txBox="1"/>
          <p:nvPr/>
        </p:nvSpPr>
        <p:spPr>
          <a:xfrm>
            <a:off x="311700" y="1076625"/>
            <a:ext cx="8375100" cy="38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I'm not sure, but I don't think so. Some primitive steering: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9" name="Google Shape;319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09425" y="1624500"/>
            <a:ext cx="6419850" cy="419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Next steps and questions</a:t>
            </a:r>
            <a:endParaRPr/>
          </a:p>
        </p:txBody>
      </p:sp>
      <p:sp>
        <p:nvSpPr>
          <p:cNvPr id="325" name="Google Shape;325;p50"/>
          <p:cNvSpPr txBox="1"/>
          <p:nvPr/>
        </p:nvSpPr>
        <p:spPr>
          <a:xfrm>
            <a:off x="282075" y="1100300"/>
            <a:ext cx="8375100" cy="38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Obvious next step: do the optimization with the right target :-)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○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Potential 2nd next step: match also std of Jacobian norm distribution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○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Potential nth next steps: optimize for other properties (directional?)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Q: Thoughts on methodology? Valuable to sweep for different values of magnitude?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○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Trivial for small (stay in plateau); perhaps impossible at some point? Idk SGD strong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Q: Is 'does this (resulting) vector mean anything the right question'? What about 'what are these activations that we find?'?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Q: How to answer the above questions?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○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Projections onto real activations?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○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Steering-like experiments and look at output?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○"/>
            </a:pPr>
            <a:r>
              <a:rPr b="0" i="0" lang="en-GB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Other things I haven't thought of?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